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defRPr sz="5200" b="1">
                <a:solidFill>
                  <a:srgbClr val="FFFFFF"/>
                </a:solidFill>
                <a:latin typeface="Calibri"/>
              </a:defRPr>
            </a:pPr>
            <a:r>
              <a:t>What If Your Robot</a:t>
            </a:r>
            <a:br/>
            <a:r>
              <a:t>Can't Trust Its Own Eyes?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0">
                <a:solidFill>
                  <a:srgbClr val="4D9DE8"/>
                </a:solidFill>
                <a:latin typeface="Calibri"/>
              </a:defRPr>
            </a:pPr>
            <a:r>
              <a:t>Reinforcement Learning Under Data Dropouts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Doron Peleg  |  Afeka College of Engineering, Tel Aviv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AAAAAA"/>
                </a:solidFill>
                <a:latin typeface="Calibri"/>
              </a:defRPr>
            </a:pPr>
            <a:r>
              <a:t>Inspired by Fan et al. (2025) — IEEE Transactions on Cybernetics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5C542"/>
                </a:solidFill>
                <a:latin typeface="Calibri"/>
              </a:defRPr>
            </a:pPr>
            <a:r>
              <a:t>Imagine this...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0">
                <a:solidFill>
                  <a:srgbClr val="FFFFFF"/>
                </a:solidFill>
                <a:latin typeface="Calibri"/>
              </a:defRPr>
            </a:pPr>
            <a:r>
              <a:t>A surgical robot is operating remotely.</a:t>
            </a:r>
            <a:br/>
            <a:r>
              <a:t>The Wi-Fi drops for half a second.</a:t>
            </a:r>
            <a:br/>
            <a:br/>
            <a:r>
              <a:t>The robot's last known position of the scalpel</a:t>
            </a:r>
            <a:br/>
            <a:r>
              <a:t>is 2mm from where it actually is.</a:t>
            </a:r>
            <a:br/>
            <a:br/>
            <a:r>
              <a:t>Does it cut?  Does it freeze?  Does it guess?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E84D4D"/>
                </a:solidFill>
                <a:latin typeface="Calibri"/>
              </a:defRPr>
            </a:pPr>
            <a:r>
              <a:t>This is the data dropout problem in networked control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Every RL algorithm assumes the agent can see.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E84D4D"/>
                </a:solidFill>
                <a:latin typeface="Calibri"/>
              </a:defRPr>
            </a:pPr>
            <a:r>
              <a:t>What happens when it can't?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2926080" cy="274320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Pretend</a:t>
            </a:r>
            <a:br/>
            <a:r>
              <a:t>nothing happened</a:t>
            </a:r>
          </a:p>
          <a:p>
            <a:br/>
            <a:pPr algn="ctr">
              <a:spcBef>
                <a:spcPts val="12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Use the stale observation</a:t>
            </a:r>
            <a:br/>
            <a:r>
              <a:t>as if it were current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926080"/>
            <a:ext cx="2926080" cy="2743200"/>
          </a:xfrm>
          <a:prstGeom prst="roundRect">
            <a:avLst/>
          </a:prstGeom>
          <a:solidFill>
            <a:srgbClr val="8B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Try to predict</a:t>
            </a:r>
            <a:br/>
            <a:r>
              <a:t>what you missed</a:t>
            </a:r>
          </a:p>
          <a:p>
            <a:br/>
            <a:pPr algn="ctr">
              <a:spcBef>
                <a:spcPts val="12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Extrapolate from last</a:t>
            </a:r>
            <a:br/>
            <a:r>
              <a:t>known state +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926080"/>
            <a:ext cx="2926080" cy="274320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Admit you</a:t>
            </a:r>
            <a:br/>
            <a:r>
              <a:t>don't know</a:t>
            </a:r>
          </a:p>
          <a:p>
            <a:br/>
            <a:pPr algn="ctr">
              <a:spcBef>
                <a:spcPts val="12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Skip learning when</a:t>
            </a:r>
            <a:br/>
            <a:r>
              <a:t>the data is unreliable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Our Simplified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0">
                <a:solidFill>
                  <a:srgbClr val="FFFFFF"/>
                </a:solidFill>
                <a:latin typeface="Calibri"/>
              </a:defRPr>
            </a:pPr>
            <a:r>
              <a:t>A 1D number line from -4 to +4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Target moves in a sine wave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4D9DE8"/>
                </a:solidFill>
                <a:latin typeface="Calibri"/>
              </a:defRPr>
            </a:pPr>
            <a:r>
              <a:t>  2.0 * sin(2πt / 100)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3 actions: LEFT (-0.2), STAY (0), RIGHT (+0.2)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41 discrete states (bins of relative distance)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4EC98B"/>
                </a:solidFill>
                <a:latin typeface="Calibri"/>
              </a:defRPr>
            </a:pPr>
            <a:r>
              <a:t>  Bin 20 = right on target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Reward = -|distance|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E84D4D"/>
                </a:solidFill>
                <a:latin typeface="Calibri"/>
              </a:defRPr>
            </a:pPr>
            <a:r>
              <a:t>  On target = 0 (best),  4 units away = -4 (worst)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Each episode = 300 steps (3 sine cycles)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5C542"/>
                </a:solidFill>
                <a:latin typeface="Calibri"/>
              </a:defRPr>
            </a:pPr>
            <a:r>
              <a:t>The Number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560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4EC98B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+4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3063240"/>
            <a:ext cx="41148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EC98B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4EC98B"/>
                </a:solidFill>
                <a:latin typeface="Calibri"/>
              </a:defRPr>
            </a:pPr>
            <a:r>
              <a:t>Target (moving)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D9DE8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4D9DE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5C542"/>
                </a:solidFill>
                <a:latin typeface="Calibri"/>
              </a:defRPr>
            </a:pPr>
            <a:r>
              <a:t>Reward examples: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CCCCCC"/>
                </a:solidFill>
                <a:latin typeface="Courier New"/>
              </a:defRPr>
            </a:pPr>
            <a:r>
              <a:t>On target:   reward =  0.0</a:t>
            </a:r>
            <a:br/>
            <a:r>
              <a:t>1 unit away:  reward = -1.0</a:t>
            </a:r>
            <a:br/>
            <a:r>
              <a:t>4 units away: reward = -4.0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Dropout Channel: 30% Packet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defRPr sz="2600" b="0">
                <a:solidFill>
                  <a:srgbClr val="CCCCCC"/>
                </a:solidFill>
                <a:latin typeface="Calibri"/>
              </a:defRPr>
            </a:pPr>
            <a:r>
              <a:t>Like a GPS that freezes 30% of the time—</a:t>
            </a:r>
            <a:br/>
            <a:r>
              <a:t>showing where you were instead of where you 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1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18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18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088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2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19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19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62656" y="2926080"/>
            <a:ext cx="1005840" cy="256032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3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20</a:t>
            </a:r>
          </a:p>
          <a:p>
            <a:br/>
            <a:pPr algn="ctr">
              <a:defRPr sz="1300" b="1">
                <a:solidFill>
                  <a:srgbClr val="E84D4D"/>
                </a:solidFill>
                <a:latin typeface="Calibri"/>
              </a:defRPr>
            </a:pPr>
            <a:r>
              <a:t>Seen:</a:t>
            </a:r>
            <a:br/>
            <a:r>
              <a:t>Bin 19</a:t>
            </a:r>
          </a:p>
          <a:p>
            <a:br/>
            <a:pPr algn="ctr">
              <a:defRPr sz="1400" b="1">
                <a:solidFill>
                  <a:srgbClr val="E84D4D"/>
                </a:solidFill>
                <a:latin typeface="Calibri"/>
              </a:defRPr>
            </a:pPr>
            <a:r>
              <a:t>DROP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8224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4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21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21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93792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5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22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22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926080"/>
            <a:ext cx="1005840" cy="256032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6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21</a:t>
            </a:r>
          </a:p>
          <a:p>
            <a:br/>
            <a:pPr algn="ctr">
              <a:defRPr sz="1300" b="1">
                <a:solidFill>
                  <a:srgbClr val="E84D4D"/>
                </a:solidFill>
                <a:latin typeface="Calibri"/>
              </a:defRPr>
            </a:pPr>
            <a:r>
              <a:t>Seen:</a:t>
            </a:r>
            <a:br/>
            <a:r>
              <a:t>Bin 22</a:t>
            </a:r>
          </a:p>
          <a:p>
            <a:br/>
            <a:pPr algn="ctr">
              <a:defRPr sz="1400" b="1">
                <a:solidFill>
                  <a:srgbClr val="E84D4D"/>
                </a:solidFill>
                <a:latin typeface="Calibri"/>
              </a:defRPr>
            </a:pPr>
            <a:r>
              <a:t>DROP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8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7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20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20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5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8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19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19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56064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9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20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20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71632" y="2926080"/>
            <a:ext cx="1005840" cy="256032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10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21</a:t>
            </a:r>
          </a:p>
          <a:p>
            <a:br/>
            <a:pPr algn="ctr">
              <a:defRPr sz="1300" b="1">
                <a:solidFill>
                  <a:srgbClr val="E84D4D"/>
                </a:solidFill>
                <a:latin typeface="Calibri"/>
              </a:defRPr>
            </a:pPr>
            <a:r>
              <a:t>Seen:</a:t>
            </a:r>
            <a:br/>
            <a:r>
              <a:t>Bin 20</a:t>
            </a:r>
          </a:p>
          <a:p>
            <a:br/>
            <a:pPr algn="ctr">
              <a:defRPr sz="1400" b="1">
                <a:solidFill>
                  <a:srgbClr val="E84D4D"/>
                </a:solidFill>
                <a:latin typeface="Calibri"/>
              </a:defRPr>
            </a:pPr>
            <a:r>
              <a:t>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E84D4D"/>
                </a:solidFill>
                <a:latin typeface="Calibri"/>
              </a:defRPr>
            </a:pPr>
            <a:r>
              <a:t>Red steps: agent thinks it's in one bin but is actually in another. It makes decisions based on wrong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 Agents, One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Same Q-learning algorithm (41 states x 3 actions). Only difference: how they handle dropout.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00400" cy="3840480"/>
          </a:xfrm>
          <a:prstGeom prst="round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800" b="1">
                <a:solidFill>
                  <a:srgbClr val="4EC98B"/>
                </a:solidFill>
                <a:latin typeface="Calibri"/>
              </a:defRPr>
            </a:pPr>
            <a:r>
              <a:t>BASELINE</a:t>
            </a:r>
          </a:p>
          <a:p>
            <a:br/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No dropout at all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Sees true state every step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Always updates Q-table</a:t>
            </a:r>
          </a:p>
          <a:p>
            <a:br/>
            <a:br/>
            <a:pPr algn="ctr">
              <a:defRPr sz="1800">
                <a:solidFill>
                  <a:srgbClr val="F5C542"/>
                </a:solidFill>
                <a:latin typeface="Calibri"/>
              </a:defRPr>
            </a:pPr>
            <a:r>
              <a:t>The upper bound—</a:t>
            </a:r>
          </a:p>
          <a:p>
            <a:pPr algn="ctr">
              <a:defRPr sz="1800">
                <a:solidFill>
                  <a:srgbClr val="F5C542"/>
                </a:solidFill>
                <a:latin typeface="Calibri"/>
              </a:defRPr>
            </a:pPr>
            <a:r>
              <a:t>what's possible with</a:t>
            </a:r>
            <a:br/>
            <a:r>
              <a:t>perfect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3840480"/>
          </a:xfrm>
          <a:prstGeom prst="roundRect">
            <a:avLst/>
          </a:prstGeom>
          <a:solidFill>
            <a:srgbClr val="7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800" b="1">
                <a:solidFill>
                  <a:srgbClr val="E84D4D"/>
                </a:solidFill>
                <a:latin typeface="Calibri"/>
              </a:defRPr>
            </a:pPr>
            <a:r>
              <a:t>NAIVE</a:t>
            </a:r>
          </a:p>
          <a:p>
            <a:br/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30% dropout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Receives stale states</a:t>
            </a:r>
          </a:p>
          <a:p>
            <a:br/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Always updates Q-table</a:t>
            </a:r>
          </a:p>
          <a:p>
            <a:br/>
            <a:br/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Writes updates to wrong</a:t>
            </a:r>
          </a:p>
          <a:p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Q-table entries—</a:t>
            </a:r>
          </a:p>
          <a:p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corrupting its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200400" cy="3840480"/>
          </a:xfrm>
          <a:prstGeom prst="round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800" b="1">
                <a:solidFill>
                  <a:srgbClr val="4D9DE8"/>
                </a:solidFill>
                <a:latin typeface="Calibri"/>
              </a:defRPr>
            </a:pPr>
            <a:r>
              <a:t>DROPOUT-AWARE</a:t>
            </a:r>
          </a:p>
          <a:p>
            <a:br/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30% dropout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Receives stale states</a:t>
            </a:r>
          </a:p>
          <a:p>
            <a:br/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Skips Q-update if stale</a:t>
            </a:r>
          </a:p>
          <a:p>
            <a:br/>
            <a:br/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Protects Q-table from</a:t>
            </a:r>
          </a:p>
          <a:p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corruption—learns less</a:t>
            </a:r>
          </a:p>
          <a:p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often, but learns correctly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AAAAAA"/>
                </a:solidFill>
                <a:latin typeface="Calibri"/>
              </a:defRPr>
            </a:pPr>
            <a:r>
              <a:t>Q-table: 41 rows (states) x 3 columns (actions).  Each cell = expected future reward for taking that action in that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We Expected vs. 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0">
                <a:solidFill>
                  <a:srgbClr val="CCCCCC"/>
                </a:solidFill>
                <a:latin typeface="Calibri"/>
              </a:defRPr>
            </a:pPr>
            <a:r>
              <a:t>We tested every combination of dropout-handling strategies: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Reward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4D9DE8"/>
                          </a:solidFill>
                          <a:latin typeface="Calibri"/>
                        </a:defRPr>
                      </a:pPr>
                      <a:r>
                        <a:t>Baseline (no dropout)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4D9DE8"/>
                          </a:solidFill>
                          <a:latin typeface="Calibri"/>
                        </a:defRPr>
                      </a:pPr>
                      <a:r>
                        <a:t>-31.80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 (always update)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-45.94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 alpha only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-45.66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State estimator only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-68.10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Estimator + confidence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-68.02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Skip when stale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-43.24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2011680"/>
            <a:ext cx="3474720" cy="320040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1945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fancy solution</a:t>
            </a:r>
            <a:br/>
            <a:r>
              <a:t>made it WORSE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100"/>
              </a:lnSpc>
              <a:spcBef>
                <a:spcPts val="1600"/>
              </a:spcBef>
              <a:defRPr sz="1800" b="0">
                <a:solidFill>
                  <a:srgbClr val="E84D4D"/>
                </a:solidFill>
                <a:latin typeface="Calibri"/>
              </a:defRPr>
            </a:pPr>
            <a:r>
              <a:t>State estimator: -68.10</a:t>
            </a:r>
          </a:p>
          <a:p>
            <a:pPr algn="ctr">
              <a:lnSpc>
                <a:spcPts val="2100"/>
              </a:lnSpc>
              <a:spcBef>
                <a:spcPts val="8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vs. doing nothing: -45.94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defRPr sz="5600" b="1">
                <a:solidFill>
                  <a:srgbClr val="F5C542"/>
                </a:solidFill>
                <a:latin typeface="Calibri"/>
              </a:defRPr>
            </a:pPr>
            <a:r>
              <a:t>"When you don't know,</a:t>
            </a:r>
            <a:br/>
            <a:r>
              <a:t> don't learn."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400" b="0">
                <a:solidFill>
                  <a:srgbClr val="CCCCCC"/>
                </a:solidFill>
                <a:latin typeface="Calibri"/>
              </a:defRPr>
            </a:pPr>
            <a:r>
              <a:t>~28% of steps are skipped (83 out of 300 per episode)</a:t>
            </a:r>
            <a:br/>
            <a:br/>
            <a:r>
              <a:t>But the remaining 72% write accurate values</a:t>
            </a:r>
            <a:br/>
            <a:r>
              <a:t>to the correct Q-table entries.</a:t>
            </a:r>
            <a:br/>
            <a:br/>
            <a:r>
              <a:t>A smaller set of clean updates beats</a:t>
            </a:r>
            <a:br/>
            <a:r>
              <a:t>a larger set of noisy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Training: 500 Episodes</a:t>
            </a:r>
          </a:p>
        </p:txBody>
      </p:sp>
      <p:pic>
        <p:nvPicPr>
          <p:cNvPr id="3" name="Picture 2" descr="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8285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0" y="1371600"/>
            <a:ext cx="3474720" cy="45720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15544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5C542"/>
                </a:solidFill>
                <a:latin typeface="Calibri"/>
              </a:defRPr>
            </a:pPr>
            <a:r>
              <a:t>Last-20 Episode Average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400"/>
              </a:lnSpc>
              <a:spcBef>
                <a:spcPts val="1600"/>
              </a:spcBef>
              <a:defRPr sz="2000" b="1">
                <a:solidFill>
                  <a:srgbClr val="4EC98B"/>
                </a:solidFill>
                <a:latin typeface="Calibri"/>
              </a:defRPr>
            </a:pPr>
            <a:r>
              <a:t>Baseline</a:t>
            </a:r>
          </a:p>
          <a:p>
            <a:pPr algn="ctr">
              <a:lnSpc>
                <a:spcPts val="3300"/>
              </a:lnSpc>
              <a:spcBef>
                <a:spcPts val="0"/>
              </a:spcBef>
              <a:defRPr sz="2800" b="1">
                <a:solidFill>
                  <a:srgbClr val="4EC98B"/>
                </a:solidFill>
                <a:latin typeface="Calibri"/>
              </a:defRPr>
            </a:pPr>
            <a:r>
              <a:t>-31.80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400"/>
              </a:lnSpc>
              <a:spcBef>
                <a:spcPts val="1600"/>
              </a:spcBef>
              <a:defRPr sz="2000" b="1">
                <a:solidFill>
                  <a:srgbClr val="4D9DE8"/>
                </a:solidFill>
                <a:latin typeface="Calibri"/>
              </a:defRPr>
            </a:pPr>
            <a:r>
              <a:t>Dropout-Aware</a:t>
            </a:r>
          </a:p>
          <a:p>
            <a:pPr algn="ctr">
              <a:lnSpc>
                <a:spcPts val="3300"/>
              </a:lnSpc>
              <a:spcBef>
                <a:spcPts val="0"/>
              </a:spcBef>
              <a:defRPr sz="2800" b="1">
                <a:solidFill>
                  <a:srgbClr val="4D9DE8"/>
                </a:solidFill>
                <a:latin typeface="Calibri"/>
              </a:defRPr>
            </a:pPr>
            <a:r>
              <a:t>-43.24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400"/>
              </a:lnSpc>
              <a:spcBef>
                <a:spcPts val="1600"/>
              </a:spcBef>
              <a:defRPr sz="2000" b="1">
                <a:solidFill>
                  <a:srgbClr val="E84D4D"/>
                </a:solidFill>
                <a:latin typeface="Calibri"/>
              </a:defRPr>
            </a:pPr>
            <a:r>
              <a:t>Naive</a:t>
            </a:r>
          </a:p>
          <a:p>
            <a:pPr algn="ctr">
              <a:lnSpc>
                <a:spcPts val="3300"/>
              </a:lnSpc>
              <a:spcBef>
                <a:spcPts val="0"/>
              </a:spcBef>
              <a:defRPr sz="2800" b="1">
                <a:solidFill>
                  <a:srgbClr val="E84D4D"/>
                </a:solidFill>
                <a:latin typeface="Calibri"/>
              </a:defRPr>
            </a:pPr>
            <a:r>
              <a:t>-45.94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1900"/>
              </a:lnSpc>
              <a:spcBef>
                <a:spcPts val="2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~6% improvement from</a:t>
            </a:r>
            <a:br/>
            <a:r>
              <a:t>skipping stale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Does It Look Like?</a:t>
            </a:r>
          </a:p>
        </p:txBody>
      </p:sp>
      <p:pic>
        <p:nvPicPr>
          <p:cNvPr id="3" name="Picture 2" descr="4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7498079" cy="62028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2011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Top:</a:t>
            </a:r>
            <a:br/>
            <a:r>
              <a:t>Baseline hugs</a:t>
            </a:r>
            <a:br/>
            <a:r>
              <a:t>the target</a:t>
            </a:r>
            <a:br/>
            <a:br/>
            <a:r>
              <a:t>Middle:</a:t>
            </a:r>
            <a:br/>
            <a:r>
              <a:t>Dropout agents</a:t>
            </a:r>
            <a:br/>
            <a:r>
              <a:t>show overshoots</a:t>
            </a:r>
            <a:br/>
            <a:r>
              <a:t>at peaks</a:t>
            </a:r>
            <a:br/>
            <a:br/>
            <a:r>
              <a:t>Bottom:</a:t>
            </a:r>
            <a:br/>
            <a:r>
              <a:t>Red = packet</a:t>
            </a:r>
            <a:br/>
            <a:r>
              <a:t>was lost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Second Surprise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0">
                <a:solidFill>
                  <a:srgbClr val="CCCCCC"/>
                </a:solidFill>
                <a:latin typeface="Calibri"/>
              </a:defRPr>
            </a:pPr>
            <a:r>
              <a:t>At evaluation time (greedy policy, no learning):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0116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Mean Tracking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Total Reward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0.0858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-25.75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-37.09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Dropout-Aware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-37.09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F08C3A"/>
                </a:solidFill>
                <a:latin typeface="Calibri"/>
              </a:defRPr>
            </a:pPr>
            <a:r>
              <a:t>Naive and Dropout-Aware: IDENTICAL evaluation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With 41 states and 3 actions, both Q-tables converge to the same argmax.</a:t>
            </a:r>
          </a:p>
          <a:p>
            <a:pPr algn="ctr">
              <a:lnSpc>
                <a:spcPts val="2400"/>
              </a:lnSpc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dropout-aware advantage is learning efficiency, not the final policy.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5C542"/>
                </a:solidFill>
                <a:latin typeface="Calibri"/>
              </a:defRPr>
            </a:pPr>
            <a:r>
              <a:t>But wait...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00"/>
              </a:lnSpc>
              <a:defRPr sz="3200" b="0">
                <a:solidFill>
                  <a:srgbClr val="FFFFFF"/>
                </a:solidFill>
                <a:latin typeface="Calibri"/>
              </a:defRPr>
            </a:pPr>
            <a:r>
              <a:t>We hand-coded the reward: -|distance|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E84D4D"/>
                </a:solidFill>
                <a:latin typeface="Calibri"/>
              </a:defRPr>
            </a:pPr>
            <a:r>
              <a:t>How did we know that was right?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CCCCCC"/>
                </a:solidFill>
                <a:latin typeface="Calibri"/>
              </a:defRPr>
            </a:pPr>
            <a:r>
              <a:t>What if we could discover the reward automatically—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defRPr sz="2400" b="0">
                <a:solidFill>
                  <a:srgbClr val="CCCCCC"/>
                </a:solidFill>
                <a:latin typeface="Calibri"/>
              </a:defRPr>
            </a:pPr>
            <a:r>
              <a:t>just by watching an expert do the task?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Inverse Reinforcement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754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4EC98B"/>
                </a:solidFill>
                <a:latin typeface="Calibri"/>
              </a:defRPr>
            </a:pPr>
            <a:r>
              <a:t>Regular RL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Given: reward function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defRPr sz="2000" b="1">
                <a:solidFill>
                  <a:srgbClr val="4EC98B"/>
                </a:solidFill>
                <a:latin typeface="Calibri"/>
              </a:defRPr>
            </a:pPr>
            <a:r>
              <a:t>Find: optimal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754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08C3A"/>
                </a:solidFill>
                <a:latin typeface="Calibri"/>
              </a:defRPr>
            </a:pPr>
            <a:r>
              <a:t>Inverse RL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Given: expert demonstrations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defRPr sz="2000" b="1">
                <a:solidFill>
                  <a:srgbClr val="F08C3A"/>
                </a:solidFill>
                <a:latin typeface="Calibri"/>
              </a:defRPr>
            </a:pPr>
            <a:r>
              <a:t>Find: reward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9144000" cy="182880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F5C542"/>
                </a:solidFill>
                <a:latin typeface="Calibri"/>
              </a:defRPr>
            </a:pPr>
            <a:r>
              <a:t>The Analogy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You watch a top student ace every exam.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You don't copy their answers.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1">
                <a:solidFill>
                  <a:srgbClr val="F08C3A"/>
                </a:solidFill>
                <a:latin typeface="Calibri"/>
              </a:defRPr>
            </a:pPr>
            <a:r>
              <a:t>You figure out what textbook they're studying from.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5 Hypotheses About What the Expert Cares About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4EC98B"/>
                </a:solidFill>
                <a:latin typeface="Calibri"/>
              </a:defRPr>
            </a:pPr>
            <a:r>
              <a:t>f0: Bullseye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1.0 if within 0.1 units of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Does the expert care about precision?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4D9DE8"/>
                </a:solidFill>
                <a:latin typeface="Calibri"/>
              </a:defRPr>
            </a:pPr>
            <a:r>
              <a:t>f1: 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-|distance|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Is the penalty proportional to distance?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E84D4D"/>
                </a:solidFill>
                <a:latin typeface="Calibri"/>
              </a:defRPr>
            </a:pPr>
            <a:r>
              <a:t>f2: Quadratic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747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-distance²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1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Is the penalty proportional to distance²?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F08C3A"/>
                </a:solidFill>
                <a:latin typeface="Calibri"/>
              </a:defRPr>
            </a:pPr>
            <a:r>
              <a:t>f3: Danger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26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-1.0 if beyond 75% of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526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Does the expert avoid edges specifically?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AAAAAA"/>
                </a:solidFill>
                <a:latin typeface="Calibri"/>
              </a:defRPr>
            </a:pPr>
            <a:r>
              <a:t>f4: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577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constant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577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Is there a constant cost per step?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5C542"/>
                </a:solidFill>
                <a:latin typeface="Calibri"/>
              </a:defRPr>
            </a:pPr>
            <a:r>
              <a:t>We give IRL these building blocks. It discovers which ones matter.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IRL Loop: 200 Iterations</a:t>
            </a:r>
          </a:p>
        </p:txBody>
      </p:sp>
      <p:pic>
        <p:nvPicPr>
          <p:cNvPr id="3" name="Picture 2" descr="ir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029200" cy="4580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280160"/>
            <a:ext cx="548640" cy="548640"/>
          </a:xfrm>
          <a:prstGeom prst="roundRect">
            <a:avLst/>
          </a:prstGeom>
          <a:solidFill>
            <a:srgbClr val="4D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Train Q-learner (100 episodes)</a:t>
            </a:r>
            <a:br/>
            <a:r>
              <a:t>reward = weights ·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48640" cy="548640"/>
          </a:xfrm>
          <a:prstGeom prst="round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Run policy (10 episodes)</a:t>
            </a:r>
            <a:br/>
            <a:r>
              <a:t>Measure average feature 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48640" cy="548640"/>
          </a:xfrm>
          <a:prstGeom prst="round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576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gradient = expert - learner</a:t>
            </a:r>
            <a:br/>
            <a:r>
              <a:t>"Where is the learner falling short?"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48640" cy="548640"/>
          </a:xfrm>
          <a:prstGeom prst="round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weights += 0.01 × gradient</a:t>
            </a:r>
            <a:br/>
            <a:r>
              <a:t>"Push reward toward expert behavior"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5C542"/>
                </a:solidFill>
                <a:latin typeface="Calibri"/>
              </a:defRPr>
            </a:pPr>
            <a:r>
              <a:t>Repeat until the learner's behavior matches the expert's → reward function found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IRL Discovered</a:t>
            </a:r>
          </a:p>
        </p:txBody>
      </p:sp>
      <p:pic>
        <p:nvPicPr>
          <p:cNvPr id="3" name="Picture 2" descr="5_ir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8285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0" y="1371600"/>
            <a:ext cx="347472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5C542"/>
                </a:solidFill>
                <a:latin typeface="Calibri"/>
              </a:defRPr>
            </a:pPr>
            <a:r>
              <a:t>Final Learned Weights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E84D4D"/>
                </a:solidFill>
                <a:latin typeface="Calibri"/>
              </a:defRPr>
            </a:pPr>
            <a:r>
              <a:t>Quadratic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defRPr sz="2400" b="1">
                <a:solidFill>
                  <a:srgbClr val="E84D4D"/>
                </a:solidFill>
                <a:latin typeface="Calibri"/>
              </a:defRPr>
            </a:pPr>
            <a:r>
              <a:t>10.000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4EC98B"/>
                </a:solidFill>
                <a:latin typeface="Calibri"/>
              </a:defRPr>
            </a:pPr>
            <a:r>
              <a:t>Bullseye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4EC98B"/>
                </a:solidFill>
                <a:latin typeface="Calibri"/>
              </a:defRPr>
            </a:pPr>
            <a:r>
              <a:t>0.806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4D9DE8"/>
                </a:solidFill>
                <a:latin typeface="Calibri"/>
              </a:defRPr>
            </a:pPr>
            <a:r>
              <a:t>Linear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4D9DE8"/>
                </a:solidFill>
                <a:latin typeface="Calibri"/>
              </a:defRPr>
            </a:pPr>
            <a:r>
              <a:t>0.378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F08C3A"/>
                </a:solidFill>
                <a:latin typeface="Calibri"/>
              </a:defRPr>
            </a:pPr>
            <a:r>
              <a:t>Danger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F08C3A"/>
                </a:solidFill>
                <a:latin typeface="Calibri"/>
              </a:defRPr>
            </a:pPr>
            <a:r>
              <a:t>0.010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AAAAAA"/>
                </a:solidFill>
                <a:latin typeface="Calibri"/>
              </a:defRPr>
            </a:pPr>
            <a:r>
              <a:t>Bias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AAAAAA"/>
                </a:solidFill>
                <a:latin typeface="Calibri"/>
              </a:defRPr>
            </a:pPr>
            <a:r>
              <a:t>0.000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1900"/>
              </a:lnSpc>
              <a:spcBef>
                <a:spcPts val="1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Quadratic dominates—</a:t>
            </a:r>
          </a:p>
          <a:p>
            <a:pPr algn="ctr">
              <a:lnSpc>
                <a:spcPts val="1900"/>
              </a:lnSpc>
              <a:spcBef>
                <a:spcPts val="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being far is very costly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Proof: Hand-Coded vs. IRL-Learned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Hand-coded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IRL-learned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0.0858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0.0858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Dropout-Aware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297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4EC98B"/>
                </a:solidFill>
                <a:latin typeface="Calibri"/>
              </a:defRPr>
            </a:pPr>
            <a:r>
              <a:t>Every cell matches. IRL recovered the reward perfectly.</a:t>
            </a:r>
          </a:p>
        </p:txBody>
      </p:sp>
      <p:pic>
        <p:nvPicPr>
          <p:cNvPr id="5" name="Picture 4" descr="6_ir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389120" cy="2160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5029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CCCCCC"/>
                </a:solidFill>
                <a:latin typeface="Calibri"/>
              </a:defRPr>
            </a:pPr>
            <a:r>
              <a:t>Green (hand-coded) and orange (IRL)</a:t>
            </a:r>
            <a:br/>
            <a:r>
              <a:t>overlap exactly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Three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" cy="731520"/>
          </a:xfrm>
          <a:prstGeom prst="round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4EC98B"/>
                </a:solidFill>
                <a:latin typeface="Calibri"/>
              </a:defRPr>
            </a:pPr>
            <a:r>
              <a:t>When in doubt, don't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Acting on bad information is worse than waiting.</a:t>
            </a:r>
            <a:br/>
            <a:r>
              <a:t>The dropout-aware agent improved by simply skipping uncertain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731520" cy="731520"/>
          </a:xfrm>
          <a:prstGeom prst="roundRect">
            <a:avLst/>
          </a:prstGeom>
          <a:solidFill>
            <a:srgbClr val="4D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4D9DE8"/>
                </a:solidFill>
                <a:latin typeface="Calibri"/>
              </a:defRPr>
            </a:pPr>
            <a:r>
              <a:t>Simple beats clever.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749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sophisticated state estimator made things worse.</a:t>
            </a:r>
            <a:br/>
            <a:r>
              <a:t>The best strategy was the most obvious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731520" cy="731520"/>
          </a:xfrm>
          <a:prstGeom prst="round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08C3A"/>
                </a:solidFill>
                <a:latin typeface="Calibri"/>
              </a:defRPr>
            </a:pPr>
            <a:r>
              <a:t>You don't need to define the goal.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486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Inverse RL discovered the reward from expert demonstrations alone.</a:t>
            </a:r>
            <a:br/>
            <a:r>
              <a:t>The objective reveals itself through behavior.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CCCCCC"/>
                </a:solidFill>
                <a:latin typeface="Calibri"/>
              </a:defRPr>
            </a:pPr>
            <a:r>
              <a:t>The next time a robot loses signal</a:t>
            </a:r>
            <a:br/>
            <a:r>
              <a:t>mid-operation...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FFFFFF"/>
                </a:solidFill>
                <a:latin typeface="Calibri"/>
              </a:defRPr>
            </a:pPr>
            <a:r>
              <a:t>the smartest thing it can do</a:t>
            </a:r>
            <a:br/>
            <a:r>
              <a:t>might be the simplest: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600"/>
              </a:lnSpc>
              <a:defRPr sz="4000" b="1">
                <a:solidFill>
                  <a:srgbClr val="F5C542"/>
                </a:solidFill>
                <a:latin typeface="Calibri"/>
              </a:defRPr>
            </a:pPr>
            <a:r>
              <a:t>Put down the scalpel.</a:t>
            </a:r>
            <a:br/>
            <a:r>
              <a:t>Wait for a clear picture.</a:t>
            </a:r>
            <a:br/>
            <a:r>
              <a:t>Then cut.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0">
                <a:solidFill>
                  <a:srgbClr val="4D9DE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Doron Peleg  |  doron.peleg@gmail.com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AAAAAA"/>
                </a:solidFill>
                <a:latin typeface="Calibri"/>
              </a:defRPr>
            </a:pPr>
            <a:r>
              <a:t>Code: github.com/dpartuk/RL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AAAAAA"/>
                </a:solidFill>
                <a:latin typeface="Calibri"/>
              </a:defRPr>
            </a:pPr>
            <a:r>
              <a:t>Based on: Fan et al. (2025) "Inverse RL for Discrete-Time Systems With Data Dropouts" — IEEE Trans. Cybernetics, Vol. 55, No.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